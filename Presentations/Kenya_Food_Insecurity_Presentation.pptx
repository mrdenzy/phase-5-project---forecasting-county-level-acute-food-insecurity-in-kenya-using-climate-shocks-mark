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8.7432497661930175E-2"/>
          <c:y val="0.12388872064068915"/>
          <c:w val="0.89341041421546441"/>
          <c:h val="0.72668640778877003"/>
        </c:manualLayout>
      </c:layout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1A3A2A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2C29F978-5D63-48CE-B90A-38D688F07B9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4537758" cy="6302743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76092D15-2EA3-46D4-8C18-3B395020413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0880460" cy="54128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48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8229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Kenya Food Insecurity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645920" y="1463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8C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Warning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· County Level · IPC Phase Prediction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2697480"/>
            <a:ext cx="685800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175" y="2898051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880611" y="2905705"/>
            <a:ext cx="424202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87.5%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-193815" y="3533112"/>
            <a:ext cx="2713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44418" y="2907793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47518" y="2903937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0.898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47518" y="3538728"/>
            <a:ext cx="37828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ROC-AUC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34393" y="2921707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35895" y="2894275"/>
            <a:ext cx="36059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47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92163" y="3538728"/>
            <a:ext cx="36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Counties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13048" y="2898051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0071" y="2926080"/>
            <a:ext cx="29439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2019–2025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49440" y="35331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Training Data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8E"/>
                </a:solidFill>
              </a:rPr>
              <a:t>Moringa School — Phase 5 Capstone · Group 5 · 2025/2026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B35714E-C154-458E-AD12-229AF8354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7" y="668510"/>
            <a:ext cx="1333307" cy="1503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Insecurity in Kenya is a Solvable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108960"/>
          </a:xfrm>
          <a:prstGeom prst="rect">
            <a:avLst/>
          </a:prstGeom>
          <a:solidFill>
            <a:srgbClr val="C0392B">
              <a:alpha val="92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Crisis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Millions of Kenyans face food insecurity every year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Humanitarian responses arrive AFTER a crisis is declared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Aid is deployed reactively — too late for prevention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Limited tools exist to predict which county needs help first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ASAL counties face chronic vulnerability with no early signal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2C5F2D">
              <a:alpha val="92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Predict food insecurity 1–3 months in advance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Cover all 47 Kenyan counties with ML predictions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Give NGOs and county governments an early signal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Deploy resources BEFORE people suffer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Live interactive app accessible to any field worker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</a:rPr>
              <a:t>DATA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Real-World Datasets — Merged into One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0972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IPC Food Security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83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A8E"/>
                </a:solidFill>
              </a:rPr>
              <a:t>4,522 rows · 2019–2025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057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F"/>
                </a:solidFill>
              </a:rPr>
              <a:t>County-level food insecurity phases — our TARGET variable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109728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CHIRPS Rainfall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83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A8E"/>
                </a:solidFill>
              </a:rPr>
              <a:t>131,544 dekadal records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F"/>
                </a:solidFill>
              </a:rPr>
              <a:t>Satellite rainfall going back to 1981 — converted to monthly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109728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81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WFP Food Prices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A8E"/>
                </a:solidFill>
              </a:rPr>
              <a:t>17,365 market observations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F"/>
                </a:solidFill>
              </a:rPr>
              <a:t>Maize &amp; beans prices across Kenyan markets 2006–2025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71800"/>
            <a:ext cx="109728" cy="1463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081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DHS Poverty (MPI)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A8E"/>
                </a:solidFill>
              </a:rPr>
              <a:t>47 counties · Static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608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F"/>
                </a:solidFill>
              </a:rPr>
              <a:t>Multidimensional Poverty Index — structural vulnerability 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8A9A8E">
              <a:alpha val="20000"/>
            </a:srgbClr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E1F"/>
                </a:solidFill>
              </a:rPr>
              <a:t>⚠  Conflict data excluded — near-zero correlation (0.096) with food insecurity confirmed it adds no predictive value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C84A"/>
                </a:solidFill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Machine Learning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" cy="502920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4A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099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Standardized 54 area names → 31 counties. Extracted Phase 3+ records. Created binary target at 20% threshold.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502920" cy="502920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4A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8986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28 features built — rainfall lags (1-3 months), food basket cost, vulnerability score, ASAL flag, lean season.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502920" cy="502920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4A"/>
                </a:solidFill>
              </a:rPr>
              <a:t>Time-Based Split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0873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Train: 2019–2023 (215 obs) | Test: 2024–2025 (92 obs). No random split — prevents data leakage.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502920" cy="502920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4A"/>
                </a:solidFill>
              </a:rPr>
              <a:t>SMOTE + Scaling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17099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Balanced class imbalance on training data only. StandardScaler fitted on train, applied to test.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502920" cy="502920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4A"/>
                </a:solidFill>
              </a:rPr>
              <a:t>Model Tuning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8986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Compared 4 models. GridSearchCV tuning. Threshold lowered 0.50 → 0.45 to maximize recall.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502920" cy="502920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4A"/>
                </a:solidFill>
              </a:rPr>
              <a:t>SHAP Explainability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0873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Waterfall &amp; summary plots explain every prediction. Top drivers identified for field workers.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Human Inputs → 28 Model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62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🌧  Rainfall (8 features)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72821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Monthly rainfall mm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Anomaly vs normal — lag 1, 2, 3 months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Drought flag (&lt; -50% anomaly)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Flood flag (&gt; +200% anomaly)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017520"/>
            <a:ext cx="402336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🍽  Food Prices (5 features)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341985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Food basket cost (maize + beans KES/kg)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Month-on-month price change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Price stress flag (20% above 3-month avg)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Beans price change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362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📅  Temporal (6 features)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4608" y="172821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Month &amp; quarter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Lean season — Jan, Feb, Jul, Aug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Long rains season (Mar–May)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Short rains season (Oct–Dec)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1752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🏘  Structural (9 features)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341985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Previous crisis flag ← STRONGEST PREDICTOR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Vulnerability score (MPI composite)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ASAL county flag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1F"/>
                </a:solidFill>
              </a:rPr>
              <a:t>6 region dummy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C84A"/>
                </a:solidFill>
              </a:rPr>
              <a:t>MODEL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Wins — Tuned &amp; Simplified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673296528"/>
              </p:ext>
            </p:extLst>
          </p:nvPr>
        </p:nvGraphicFramePr>
        <p:xfrm>
          <a:off x="365760" y="12344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0972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</a:rPr>
              <a:t>Final Model Metrics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1353312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6047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87.5%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784112" y="1737360"/>
            <a:ext cx="2079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Recall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25146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66090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8B5C"/>
                </a:solidFill>
              </a:rPr>
              <a:t>0.898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943600" y="3141283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ROC-AUC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36576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0.571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94360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F1 Score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0" y="4754880"/>
            <a:ext cx="2926080" cy="347472"/>
          </a:xfrm>
          <a:prstGeom prst="rect">
            <a:avLst/>
          </a:prstGeom>
          <a:solidFill>
            <a:srgbClr val="E8C84A">
              <a:alpha val="85000"/>
            </a:srgbClr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4663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F"/>
                </a:solidFill>
              </a:rPr>
              <a:t>Threshold optimized: 0.50 → 0.45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543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</a:rPr>
              <a:t>THRESHOLD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0.45? Missing a Crisis Costs Lives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767183088"/>
              </p:ext>
            </p:extLst>
          </p:nvPr>
        </p:nvGraphicFramePr>
        <p:xfrm>
          <a:off x="365760" y="12344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234440"/>
            <a:ext cx="914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4826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Below 0.45 — Recall = 100%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5546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F"/>
                </a:solidFill>
              </a:rPr>
              <a:t>Every single real crisis is caught. But too many false alarms.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93519" y="2363724"/>
            <a:ext cx="9144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23637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</a:rPr>
              <a:t>At 0.45 — The Sweet Spot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63640" y="26380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F"/>
                </a:solidFill>
              </a:rPr>
              <a:t>87.5% recall. Acceptable false alarm rate. Best balance for early warning.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16379" y="3337560"/>
            <a:ext cx="9144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Above 0.45 — Recall drops fast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F"/>
                </a:solidFill>
              </a:rPr>
              <a:t>Model starts missing real crises. Unacceptable for humanitarian work.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4192630"/>
            <a:ext cx="2926080" cy="731520"/>
          </a:xfrm>
          <a:prstGeom prst="rect">
            <a:avLst/>
          </a:prstGeom>
          <a:solidFill>
            <a:srgbClr val="1A3A2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4087368"/>
            <a:ext cx="2743200" cy="81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"In food security, missing a crisis 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far more costly than a false alarm."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C84A"/>
                </a:solidFill>
              </a:rPr>
              <a:t>MODEL INTERPRETABILITY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Analysis — Why Does the Model Predict Crisis?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</a:rPr>
              <a:t>Top 5 Prediction Drivers (SHAP Importance)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Previous Crisis (lag1)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728216"/>
            <a:ext cx="2377440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728216"/>
            <a:ext cx="23774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84A"/>
                </a:solidFill>
              </a:rPr>
              <a:t>0.145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Vulnerability Score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2350008"/>
            <a:ext cx="2377440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2350008"/>
            <a:ext cx="225856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84A"/>
                </a:solidFill>
              </a:rPr>
              <a:t>0.138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935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Rainfall Anomaly lag1m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2971800"/>
            <a:ext cx="2377440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971800"/>
            <a:ext cx="1450238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935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84A"/>
                </a:solidFill>
              </a:rPr>
              <a:t>0.089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557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Food Basket Cost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3593592"/>
            <a:ext cx="2377440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3593592"/>
            <a:ext cx="1188720" cy="201168"/>
          </a:xfrm>
          <a:prstGeom prst="rect">
            <a:avLst/>
          </a:prstGeom>
          <a:solidFill>
            <a:srgbClr val="4A8B5C"/>
          </a:solidFill>
          <a:ln w="12700">
            <a:solidFill>
              <a:srgbClr val="4A8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557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84A"/>
                </a:solidFill>
              </a:rPr>
              <a:t>0.072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ASAL County Flag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17520" y="4215384"/>
            <a:ext cx="2377440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4215384"/>
            <a:ext cx="950976" cy="201168"/>
          </a:xfrm>
          <a:prstGeom prst="rect">
            <a:avLst/>
          </a:prstGeom>
          <a:solidFill>
            <a:srgbClr val="8A9A8E"/>
          </a:solidFill>
          <a:ln w="12700">
            <a:solidFill>
              <a:srgbClr val="8A9A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84A"/>
                </a:solidFill>
              </a:rPr>
              <a:t>0.058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234440"/>
            <a:ext cx="28346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234440"/>
            <a:ext cx="10972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325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Crisis Persists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16184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Counties that were food insecure last assessment are overwhelmingly likely to remain so. Recovery is slow.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468880"/>
            <a:ext cx="28346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468880"/>
            <a:ext cx="10972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560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Poverty Amplifies Everything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28529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Structural poverty creates a chronic baseline. Rainfall or price shocks hit vulnerable counties hardest.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703320"/>
            <a:ext cx="28346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4A9B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3703320"/>
            <a:ext cx="109728" cy="1097280"/>
          </a:xfrm>
          <a:prstGeom prst="rect">
            <a:avLst/>
          </a:prstGeom>
          <a:solidFill>
            <a:srgbClr val="4A9BBF"/>
          </a:solidFill>
          <a:ln w="12700">
            <a:solidFill>
              <a:srgbClr val="4A9B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BBF"/>
                </a:solidFill>
              </a:rPr>
              <a:t>Rainfall Lag Matters More Than Current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6208" y="40873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It's not today's rainfall — it's what happened 1–3 months ago that determines food availability now.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</a:rPr>
              <a:t>LIVE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on Hugging Face — Free, Always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  County Risk 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F"/>
                </a:solidFill>
              </a:rPr>
              <a:t>All 47 counties color-coded by IPC phase. Red = crisis, green = safe. Counties ranked by risk score in sidebar.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5176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417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🔮  Predict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08483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F"/>
                </a:solidFill>
              </a:rPr>
              <a:t>Select county, answer 5 questions about current conditions. Model returns instant risk probability + top driving factors.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265176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417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Trends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08483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F"/>
                </a:solidFill>
              </a:rPr>
              <a:t>Historical food insecurity 2019–2025 per county. Peak risk, crisis months, improving or worsening trend.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3A2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84A"/>
                </a:solidFill>
              </a:rPr>
              <a:t>🔗  huggingface.co/spaces/Moringa-grp5/kenya-food-insecurity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C84A"/>
                </a:solidFill>
              </a:rPr>
              <a:t>BUSINESS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Alert Protocol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326898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7432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≥ 60%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4 — Emergency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Activate emergency response immediately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Pre-position food stocks in county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Mobilize NGO and WFP partners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Brief Cabinet Secretary for Devolution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743200" cy="326898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25880"/>
            <a:ext cx="274320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45–60%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01568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3 — Crisis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29000" y="2121408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Convene county drought committee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Begin contingency fund allocation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Increase market monitoring weekly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Alert NDMA for escalation watch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743200" cy="326898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E8C8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25880"/>
            <a:ext cx="2743200" cy="685800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35–45%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7648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2 — Stressed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121408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Increase field monitoring frequency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Prepare contingency budgets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Brief county food security officers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Watch rainfall forecasts closely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690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A8E"/>
                </a:solidFill>
              </a:rPr>
              <a:t>Key Stakeholders:  NDMA  ·  WFP Kenya  ·  County Governments  ·  FEWS 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</a:rPr>
              <a:t>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Would Build With More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📡  Live Data Integration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F"/>
                </a:solidFill>
              </a:rPr>
              <a:t>Connect to CHIRPS rainfall API and WFP price feeds. Model updates automatically every month without manual input.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8B5C"/>
                </a:solidFill>
              </a:rPr>
              <a:t>→ Turns static baseline risk into a truly live early warning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📍  Expand to All 47 Counties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F"/>
                </a:solidFill>
              </a:rPr>
              <a:t>Current IPC training data covers 31 counties. Expand price and IPC coverage to remaining 16 counties.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8B5C"/>
                </a:solidFill>
              </a:rPr>
              <a:t>→ Full national coverage — no county left unmonitored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📱  SMS Alert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F"/>
                </a:solidFill>
              </a:rPr>
              <a:t>Automated monthly SMS alerts to county drought officers when probability crosses 45% threshold.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8B5C"/>
                </a:solidFill>
              </a:rPr>
              <a:t>→ Early warning reaches field workers without needing internet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🌤  Seasonal Forecast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F"/>
                </a:solidFill>
              </a:rPr>
              <a:t>Incorporate 3-month rainfall outlooks from ICPAC to extend prediction horizon beyond 3 months.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8B5C"/>
                </a:solidFill>
              </a:rPr>
              <a:t>→ Pre-position resources 6 months ahead of crisis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C84A"/>
                </a:solidFill>
              </a:rPr>
              <a:t>Built to save lives through data science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C84A"/>
                </a:solidFill>
              </a:rPr>
              <a:t>🔗  huggingface.co/spaces/Moringa-grp5/kenya-food-insecurity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8E"/>
                </a:solidFill>
              </a:rPr>
              <a:t>github.com/MrDenzy/PHASE-5-PROJECT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87.5%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374904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0.898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8892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ROC-AUC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47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Counties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374904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C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</a:rPr>
              <a:t>Live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3796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on HF Spaces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4388B9-F3BF-49F6-AC6B-C28F2D677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080" y="113556"/>
            <a:ext cx="2518720" cy="185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1072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Food Insecurity Early Warning System</dc:title>
  <dc:subject>PptxGenJS Presentation</dc:subject>
  <dc:creator>Moringa Group 5</dc:creator>
  <cp:lastModifiedBy>USER</cp:lastModifiedBy>
  <cp:revision>4</cp:revision>
  <dcterms:created xsi:type="dcterms:W3CDTF">2026-03-12T06:21:18Z</dcterms:created>
  <dcterms:modified xsi:type="dcterms:W3CDTF">2026-03-12T06:56:24Z</dcterms:modified>
</cp:coreProperties>
</file>